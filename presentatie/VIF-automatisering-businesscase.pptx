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5279"/>
  </p:normalViewPr>
  <p:slideViewPr>
    <p:cSldViewPr snapToGrid="0" snapToObjects="1">
      <p:cViewPr>
        <p:scale>
          <a:sx n="100" d="100"/>
          <a:sy n="100" d="100"/>
        </p:scale>
        <p:origin x="90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werkblad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</c:v>
                </c:pt>
              </c:strCache>
            </c:strRef>
          </c:tx>
          <c:spPr>
            <a:solidFill>
              <a:srgbClr val="FF7D2F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AB8-AF4B-AF55-60B3EC1B29C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Handmatig</c:v>
                </c:pt>
                <c:pt idx="1">
                  <c:v>Geautomatiseerd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155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8-AF4B-AF55-60B3EC1B29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12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E9EAA-640B-7478-04CD-176CFF2F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54D2F-D8A1-18B4-3A08-BFC49F4B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49F0D-5EEA-268E-9589-1FE05EE80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AF41-07AD-D23A-516E-76D1036A4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9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6436-1FD4-88E8-C605-47F51BC5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27DC9-614D-340C-CA21-E74FC6D5C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A5AF8-94B6-5FCF-F7AF-EB610686D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8C9D3-3F92-998C-81D1-13322301E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4225D-05F9-8BAC-05E4-BF237906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F4944-F71A-1948-2209-C50E775BC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01971-B702-9EE3-CD42-63CC1F85A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A16A8-A4F3-16C6-77AF-261F61708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57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63ECA22A-E791-BB87-DC04-64ABA256D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1" y="526812"/>
            <a:ext cx="5863589" cy="5431535"/>
          </a:xfrm>
          <a:prstGeom prst="rect">
            <a:avLst/>
          </a:prstGeom>
        </p:spPr>
      </p:pic>
      <p:grpSp>
        <p:nvGrpSpPr>
          <p:cNvPr id="16" name="Groep 15">
            <a:extLst>
              <a:ext uri="{FF2B5EF4-FFF2-40B4-BE49-F238E27FC236}">
                <a16:creationId xmlns:a16="http://schemas.microsoft.com/office/drawing/2014/main" id="{262F48B3-440A-35C5-3CD7-91ABD1CDCD78}"/>
              </a:ext>
            </a:extLst>
          </p:cNvPr>
          <p:cNvGrpSpPr/>
          <p:nvPr/>
        </p:nvGrpSpPr>
        <p:grpSpPr>
          <a:xfrm>
            <a:off x="419100" y="132735"/>
            <a:ext cx="502920" cy="4023360"/>
            <a:chOff x="8869680" y="1371600"/>
            <a:chExt cx="502920" cy="4023360"/>
          </a:xfrm>
        </p:grpSpPr>
        <p:sp>
          <p:nvSpPr>
            <p:cNvPr id="2" name="Shape 0"/>
            <p:cNvSpPr/>
            <p:nvPr/>
          </p:nvSpPr>
          <p:spPr>
            <a:xfrm>
              <a:off x="8869680" y="1371600"/>
              <a:ext cx="54864" cy="4023360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3" name="Shape 1"/>
            <p:cNvSpPr/>
            <p:nvPr/>
          </p:nvSpPr>
          <p:spPr>
            <a:xfrm>
              <a:off x="8869680" y="1371600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4" name="Shape 2"/>
            <p:cNvSpPr/>
            <p:nvPr/>
          </p:nvSpPr>
          <p:spPr>
            <a:xfrm>
              <a:off x="8869680" y="5340096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6B04C687-6310-1F55-16C6-CD1A693F0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006" y="526811"/>
            <a:ext cx="5351894" cy="5431535"/>
          </a:xfrm>
          <a:prstGeom prst="rect">
            <a:avLst/>
          </a:prstGeom>
        </p:spPr>
      </p:pic>
      <p:grpSp>
        <p:nvGrpSpPr>
          <p:cNvPr id="18" name="Groep 17">
            <a:extLst>
              <a:ext uri="{FF2B5EF4-FFF2-40B4-BE49-F238E27FC236}">
                <a16:creationId xmlns:a16="http://schemas.microsoft.com/office/drawing/2014/main" id="{7BC72374-906A-C896-8E6B-18643B41357B}"/>
              </a:ext>
            </a:extLst>
          </p:cNvPr>
          <p:cNvGrpSpPr/>
          <p:nvPr/>
        </p:nvGrpSpPr>
        <p:grpSpPr>
          <a:xfrm>
            <a:off x="11456669" y="2659723"/>
            <a:ext cx="502920" cy="4023360"/>
            <a:chOff x="11018520" y="1371600"/>
            <a:chExt cx="502920" cy="4023360"/>
          </a:xfrm>
        </p:grpSpPr>
        <p:sp>
          <p:nvSpPr>
            <p:cNvPr id="5" name="Shape 3"/>
            <p:cNvSpPr/>
            <p:nvPr/>
          </p:nvSpPr>
          <p:spPr>
            <a:xfrm>
              <a:off x="11466576" y="1371600"/>
              <a:ext cx="54864" cy="4023360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Shape 4"/>
            <p:cNvSpPr/>
            <p:nvPr/>
          </p:nvSpPr>
          <p:spPr>
            <a:xfrm>
              <a:off x="11018520" y="1371600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7" name="Shape 5"/>
            <p:cNvSpPr/>
            <p:nvPr/>
          </p:nvSpPr>
          <p:spPr>
            <a:xfrm>
              <a:off x="11018520" y="5340096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0073F-5DF9-75A7-080C-868B520E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ep 15">
            <a:extLst>
              <a:ext uri="{FF2B5EF4-FFF2-40B4-BE49-F238E27FC236}">
                <a16:creationId xmlns:a16="http://schemas.microsoft.com/office/drawing/2014/main" id="{6CD0C5B7-F1A3-8E7C-B6FF-E3F95281274D}"/>
              </a:ext>
            </a:extLst>
          </p:cNvPr>
          <p:cNvGrpSpPr/>
          <p:nvPr/>
        </p:nvGrpSpPr>
        <p:grpSpPr>
          <a:xfrm>
            <a:off x="419100" y="132735"/>
            <a:ext cx="502920" cy="4023360"/>
            <a:chOff x="8869680" y="1371600"/>
            <a:chExt cx="502920" cy="40233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39C9BE53-103D-AA20-01DA-0A9F7EAA22E1}"/>
                </a:ext>
              </a:extLst>
            </p:cNvPr>
            <p:cNvSpPr/>
            <p:nvPr/>
          </p:nvSpPr>
          <p:spPr>
            <a:xfrm>
              <a:off x="8869680" y="1371600"/>
              <a:ext cx="54864" cy="4023360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D2D1C4B5-441D-54AA-DE35-B7A0C446EC0E}"/>
                </a:ext>
              </a:extLst>
            </p:cNvPr>
            <p:cNvSpPr/>
            <p:nvPr/>
          </p:nvSpPr>
          <p:spPr>
            <a:xfrm>
              <a:off x="8869680" y="1371600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43DC56F-E983-991B-125B-A5E5FB5920D1}"/>
                </a:ext>
              </a:extLst>
            </p:cNvPr>
            <p:cNvSpPr/>
            <p:nvPr/>
          </p:nvSpPr>
          <p:spPr>
            <a:xfrm>
              <a:off x="8869680" y="5340096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8" name="Groep 17">
            <a:extLst>
              <a:ext uri="{FF2B5EF4-FFF2-40B4-BE49-F238E27FC236}">
                <a16:creationId xmlns:a16="http://schemas.microsoft.com/office/drawing/2014/main" id="{01E98C49-4006-8FCD-D4CB-4B86878357BC}"/>
              </a:ext>
            </a:extLst>
          </p:cNvPr>
          <p:cNvGrpSpPr/>
          <p:nvPr/>
        </p:nvGrpSpPr>
        <p:grpSpPr>
          <a:xfrm>
            <a:off x="11456669" y="2659723"/>
            <a:ext cx="502920" cy="4023360"/>
            <a:chOff x="11018520" y="1371600"/>
            <a:chExt cx="502920" cy="40233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A975A0C-456B-DE0E-40ED-E0DB1ABA8799}"/>
                </a:ext>
              </a:extLst>
            </p:cNvPr>
            <p:cNvSpPr/>
            <p:nvPr/>
          </p:nvSpPr>
          <p:spPr>
            <a:xfrm>
              <a:off x="11466576" y="1371600"/>
              <a:ext cx="54864" cy="4023360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ADBA3B27-5DC7-69AE-5AD2-493FD239C36E}"/>
                </a:ext>
              </a:extLst>
            </p:cNvPr>
            <p:cNvSpPr/>
            <p:nvPr/>
          </p:nvSpPr>
          <p:spPr>
            <a:xfrm>
              <a:off x="11018520" y="1371600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8B18220-A7EE-54E5-74BE-1800E306B73C}"/>
                </a:ext>
              </a:extLst>
            </p:cNvPr>
            <p:cNvSpPr/>
            <p:nvPr/>
          </p:nvSpPr>
          <p:spPr>
            <a:xfrm>
              <a:off x="11018520" y="5340096"/>
              <a:ext cx="502920" cy="54864"/>
            </a:xfrm>
            <a:prstGeom prst="rect">
              <a:avLst/>
            </a:prstGeom>
            <a:solidFill>
              <a:srgbClr val="FF7D2F"/>
            </a:solidFill>
            <a:ln/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8" name="Afbeelding 7">
            <a:extLst>
              <a:ext uri="{FF2B5EF4-FFF2-40B4-BE49-F238E27FC236}">
                <a16:creationId xmlns:a16="http://schemas.microsoft.com/office/drawing/2014/main" id="{BA925F0A-F521-CF01-92ED-1F0B2E3CB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164" y="178118"/>
            <a:ext cx="6750360" cy="650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70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57663-8233-BA5E-5414-B00DA572C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2625E5-348C-821D-CE94-F23B2915AA1B}"/>
              </a:ext>
            </a:extLst>
          </p:cNvPr>
          <p:cNvSpPr/>
          <p:nvPr/>
        </p:nvSpPr>
        <p:spPr>
          <a:xfrm>
            <a:off x="8869680" y="1371600"/>
            <a:ext cx="54864" cy="402336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544FA1-4BCF-514C-32A9-C1DCB9F724F8}"/>
              </a:ext>
            </a:extLst>
          </p:cNvPr>
          <p:cNvSpPr/>
          <p:nvPr/>
        </p:nvSpPr>
        <p:spPr>
          <a:xfrm>
            <a:off x="8869680" y="1371600"/>
            <a:ext cx="502920" cy="54864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3998B8-7524-DAD8-8B85-99305ABA4104}"/>
              </a:ext>
            </a:extLst>
          </p:cNvPr>
          <p:cNvSpPr/>
          <p:nvPr/>
        </p:nvSpPr>
        <p:spPr>
          <a:xfrm>
            <a:off x="8869680" y="5340096"/>
            <a:ext cx="502920" cy="54864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BADFF09-3043-4F88-4607-965071435E96}"/>
              </a:ext>
            </a:extLst>
          </p:cNvPr>
          <p:cNvSpPr/>
          <p:nvPr/>
        </p:nvSpPr>
        <p:spPr>
          <a:xfrm>
            <a:off x="11466576" y="1371600"/>
            <a:ext cx="54864" cy="402336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11FC1E7-393B-C860-6B56-DC1DA6ECFD0F}"/>
              </a:ext>
            </a:extLst>
          </p:cNvPr>
          <p:cNvSpPr/>
          <p:nvPr/>
        </p:nvSpPr>
        <p:spPr>
          <a:xfrm>
            <a:off x="11018520" y="1371600"/>
            <a:ext cx="502920" cy="54864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1AF23A-E46B-ECA7-C162-19359672C1B1}"/>
              </a:ext>
            </a:extLst>
          </p:cNvPr>
          <p:cNvSpPr/>
          <p:nvPr/>
        </p:nvSpPr>
        <p:spPr>
          <a:xfrm>
            <a:off x="11018520" y="5340096"/>
            <a:ext cx="502920" cy="54864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26A7AA-21E1-EDD8-8E19-84D72A546131}"/>
              </a:ext>
            </a:extLst>
          </p:cNvPr>
          <p:cNvSpPr/>
          <p:nvPr/>
        </p:nvSpPr>
        <p:spPr>
          <a:xfrm>
            <a:off x="88696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MONTEUR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3B0BA6-7587-DBDE-FEA1-4B49BDD31C58}"/>
              </a:ext>
            </a:extLst>
          </p:cNvPr>
          <p:cNvSpPr/>
          <p:nvPr/>
        </p:nvSpPr>
        <p:spPr>
          <a:xfrm>
            <a:off x="88696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2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TECHFORCE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D750327-7D89-88C7-35B7-53F64EEBC4E6}"/>
              </a:ext>
            </a:extLst>
          </p:cNvPr>
          <p:cNvSpPr/>
          <p:nvPr/>
        </p:nvSpPr>
        <p:spPr>
          <a:xfrm>
            <a:off x="5943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TESTCASE · MAINTEC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F6B4080-54E3-22E7-447D-EDE3534C3F9E}"/>
              </a:ext>
            </a:extLst>
          </p:cNvPr>
          <p:cNvSpPr/>
          <p:nvPr/>
        </p:nvSpPr>
        <p:spPr>
          <a:xfrm>
            <a:off x="59436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VIF-automatisering</a:t>
            </a:r>
            <a:endParaRPr lang="en-US" sz="5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E239542-3ADF-313B-B7CF-30D3DD75EFBF}"/>
              </a:ext>
            </a:extLst>
          </p:cNvPr>
          <p:cNvSpPr/>
          <p:nvPr/>
        </p:nvSpPr>
        <p:spPr>
          <a:xfrm>
            <a:off x="59436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vacature-intake tot live campagne — volledig automatisch.</a:t>
            </a:r>
            <a:endParaRPr lang="en-US" sz="1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916B7FB-5317-B276-239A-20DAC631F322}"/>
              </a:ext>
            </a:extLst>
          </p:cNvPr>
          <p:cNvSpPr/>
          <p:nvPr/>
        </p:nvSpPr>
        <p:spPr>
          <a:xfrm>
            <a:off x="594360" y="3794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upload door sales. Het brein schrijft, verbeeldt, registreert en zet de campagne klaar. Marketing keurt met één </a:t>
            </a:r>
            <a:r>
              <a:rPr lang="en-US" sz="1500" dirty="0" err="1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</a:t>
            </a:r>
            <a:r>
              <a:rPr lang="en-US" sz="1500" dirty="0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</a:t>
            </a:r>
            <a:r>
              <a:rPr lang="en-US" sz="1500" dirty="0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de vacature staat live.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8314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HUIDIGE SITUATIE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Vandaag: handwerk, wachttijd en foutgevoelig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Versnipperd proces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→ recruiter → marketing, met overdrachten en wachttijd bij elke stap.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868680" y="30906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handmatig typwerk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4107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Vacaturetekst, SEO, beeld, Tigris-invoer en de Meta-campagne — allemaal met de hand.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594360" y="402336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868680" y="41422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Trage doorlooptijd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4622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vacature staat pas na dagen live; intussen loopt de markt door.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594360" y="507492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868680" y="51937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Wisselende kwaliteit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513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Tekst, SEO en huisstijl hangen af van wie het toevallig oppakt.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0" y="2011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dirty="0">
                <a:solidFill>
                  <a:srgbClr val="FF7D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 2,8 uur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7315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handwerk per vacature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· SEO · beeld · invoer · campagne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dirty="0">
                <a:solidFill>
                  <a:srgbClr val="FF7D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</a:t>
            </a:r>
            <a:r>
              <a:rPr lang="en-US" sz="5000" dirty="0" err="1">
                <a:solidFill>
                  <a:srgbClr val="FF7D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dagen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731520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doorlooptijd tot live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dag uitstel = gemiste kandidaten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upload — de rest gebeurt vanzelf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zet het VIF op maintec.nl/vif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1810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370332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37033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Tekst, beeld, Tigris &amp; Meta-campagne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5274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6364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653796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537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Goedkeuren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keurt met één </a:t>
            </a:r>
            <a:r>
              <a:rPr lang="en-US" sz="1300" dirty="0" err="1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</a:t>
            </a:r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</a:t>
            </a:r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8738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9828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937260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9372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260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7260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 + lead-campagne online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recruiter besteedt zijn tijd weer aan kandidaten — niet aan data-invoer.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 DE MOTORKAP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het werkt: de pijplijn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11046" y="2423160"/>
            <a:ext cx="9166860" cy="0"/>
          </a:xfrm>
          <a:prstGeom prst="line">
            <a:avLst/>
          </a:prstGeom>
          <a:noFill/>
          <a:ln w="25400">
            <a:solidFill>
              <a:srgbClr val="DEDCD7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126998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1126998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VIF 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uploadt het Word/PDF-intakeformulier.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60370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2960370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9172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 San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460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brein leest, valideert en schrijft.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93742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793742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52544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0832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Wervend beeld + Maintec-huisstijl automatisch.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7114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627114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85916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Tigris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04204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Compleet vacature-record in Salesforce.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60486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8460486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19288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Meta-campagne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7576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Lead-campagne met formulier klaargezet.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93858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10293858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52660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+ tracking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0948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goedkeuring online, leads herleidbaar.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120640"/>
            <a:ext cx="11000232" cy="100584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868680" y="53492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Rolverdeling:  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San is het </a:t>
            </a:r>
            <a:r>
              <a:rPr lang="en-US" sz="1400" b="1" dirty="0">
                <a:solidFill>
                  <a:srgbClr val="FF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brein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(valideren, schrijven, optimaliseren); de </a:t>
            </a:r>
            <a:r>
              <a:rPr lang="en-US" sz="140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automatisering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</a:t>
            </a:r>
            <a:r>
              <a:rPr lang="en-US" sz="140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dirty="0">
                <a:solidFill>
                  <a:srgbClr val="FF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handen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(beeld, Tigris, Meta, mail). Eén goedkeuring blijft als menselijke check.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BREIN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team van samenwerkende AI-specialisten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795528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&amp; validatie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Leest het VIF en controleert volledigheid.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502152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703320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/ privacy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Houdt persoonsgegevens uit publieke tekst.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9944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6409944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611112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1112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Schrijft wervende, on-brand vacaturetekst.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317736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9317736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9518904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SEO-specialist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518904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meta-titels en vindbaarheid.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594360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795528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/ LLM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Optimaliseert voor AI-zoekmachines + FAQ.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502152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3502152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3703320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Brand-bewaker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03320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Bewaakt huisstijl, toon en compliance.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409944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6409944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6611112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Campagne-strateeg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11112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Meta-doelgroep en advertentievarianten.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9317736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3" name="Shape 31"/>
          <p:cNvSpPr/>
          <p:nvPr/>
        </p:nvSpPr>
        <p:spPr>
          <a:xfrm>
            <a:off x="9317736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9518904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Handoff-pakket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518904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Bundelt alles tot één uitvoerbare opdracht.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RESULTAAT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de tooling per vacature oplevert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82296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Professionele vacaturetekst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 — pakkende opening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 je doen? — heldere taken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verwachten wij van jou? — eisen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kun je van ons verwachten? — voorwaarden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84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ga je werken? — team &amp; Maintec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394960" cy="2011680"/>
          </a:xfrm>
          <a:prstGeom prst="rect">
            <a:avLst/>
          </a:prstGeom>
          <a:solidFill>
            <a:srgbClr val="16181D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49224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Wervend beeld in huisstijl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2606040"/>
            <a:ext cx="41148" cy="96012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812280" y="2606040"/>
            <a:ext cx="411480" cy="41148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6812280" y="3525012"/>
            <a:ext cx="411480" cy="41148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11068812" y="2606040"/>
            <a:ext cx="41148" cy="96012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10698480" y="2606040"/>
            <a:ext cx="411480" cy="41148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10698480" y="3525012"/>
            <a:ext cx="411480" cy="41148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69037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SERVICEMONTEUR ELEKTROTECHNIEK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2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TECHFORCE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160520"/>
            <a:ext cx="5394960" cy="18288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822960" y="4325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Compleet Tigris-record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727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Functietitel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727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Servicemonteur 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€ 2.700 – € 3.300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330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Plaats / provincie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330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Barendrecht · Zuid-Holland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632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werkervaring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5632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Techniek · Medior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160520"/>
            <a:ext cx="5394960" cy="18288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6492240" y="4325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lead-campagne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4727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+ advertentievarianten (PAUSED)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020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Form voor directe sollicitatie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5312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Id-tracking: lead ↔ vacature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5605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Activeert pas na jouw goedkeuring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prototype — dit draait 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San-netwerk gekoppeld (23 samenwerkende agents)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263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0372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 live weggeschreven in Tigris / Salesforce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Beeldgeneratie + Maintec-huisstijl-overlay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263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lead-campagne werkend (TOS-blokkade opgelost)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Goedkeur-mail met één-klik publicatie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6263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keten end-to-end getest op Render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436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resteert: doorontwikkeling (recruiter-sourcing, eigen fotobibliotheek, directe website-koppeling).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BUSINESSCASE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ROI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70048" cy="13716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€ 16.950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bespaard per jaar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2152" y="1691640"/>
            <a:ext cx="2670048" cy="1371600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593592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€ 1.413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93592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9944" y="1691640"/>
            <a:ext cx="2670048" cy="1371600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501384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uur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01384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 per maand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17736" y="1691640"/>
            <a:ext cx="2670048" cy="1371600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9409176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0,29 FTE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09176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vrijgespeeld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 per vacature</a:t>
            </a:r>
            <a:endParaRPr lang="en-US" sz="15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1766933002"/>
              </p:ext>
            </p:extLst>
          </p:nvPr>
        </p:nvGraphicFramePr>
        <p:xfrm>
          <a:off x="594360" y="3749040"/>
          <a:ext cx="57607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858000" y="3749040"/>
            <a:ext cx="4736592" cy="265176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Text 16"/>
          <p:cNvSpPr/>
          <p:nvPr/>
        </p:nvSpPr>
        <p:spPr>
          <a:xfrm>
            <a:off x="713232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 rekent het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132320" y="434340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min handwerk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32320" y="461772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45 · SEO 15 · </a:t>
            </a:r>
            <a:r>
              <a:rPr lang="en-US" sz="120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15· </a:t>
            </a:r>
            <a:r>
              <a:rPr lang="en-US" sz="120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</a:t>
            </a: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· </a:t>
            </a:r>
            <a:r>
              <a:rPr lang="en-US" sz="120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 · </a:t>
            </a:r>
            <a:r>
              <a:rPr lang="en-US" sz="120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coördinatie</a:t>
            </a: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132320" y="498348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wordt</a:t>
            </a: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~10 min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0" y="525780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nog reviewen en goedkeuren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132320" y="562356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€ 149 netto bespaard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132320" y="589788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vacature, na API- en reviewkosten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Aanname: 15 vacatures/maand (Maintec + Tecforce) · € 40/uur all-in.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21142-820C-CF11-7375-0D80BBBD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3F1287-7E00-3891-88F8-AD11A144EFA0}"/>
              </a:ext>
            </a:extLst>
          </p:cNvPr>
          <p:cNvSpPr/>
          <p:nvPr/>
        </p:nvSpPr>
        <p:spPr>
          <a:xfrm>
            <a:off x="5943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BUSINESSCASE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2C5AEA-5E7B-596C-3C66-7C15394064CD}"/>
              </a:ext>
            </a:extLst>
          </p:cNvPr>
          <p:cNvSpPr/>
          <p:nvPr/>
        </p:nvSpPr>
        <p:spPr>
          <a:xfrm>
            <a:off x="594360" y="614501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Rekenmodel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F32E3C-8A5C-5359-D519-857099CF5596}"/>
              </a:ext>
            </a:extLst>
          </p:cNvPr>
          <p:cNvSpPr/>
          <p:nvPr/>
        </p:nvSpPr>
        <p:spPr>
          <a:xfrm>
            <a:off x="594360" y="1460321"/>
            <a:ext cx="2670048" cy="13716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18A766-5F16-B33D-6A9B-23294E320C90}"/>
              </a:ext>
            </a:extLst>
          </p:cNvPr>
          <p:cNvSpPr/>
          <p:nvPr/>
        </p:nvSpPr>
        <p:spPr>
          <a:xfrm>
            <a:off x="685800" y="1643201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567FD7-736D-4E01-4633-42ABD5556F98}"/>
              </a:ext>
            </a:extLst>
          </p:cNvPr>
          <p:cNvSpPr/>
          <p:nvPr/>
        </p:nvSpPr>
        <p:spPr>
          <a:xfrm>
            <a:off x="685800" y="2283281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Vacatures</a:t>
            </a:r>
            <a:r>
              <a:rPr lang="en-US" sz="1300" dirty="0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300" dirty="0" err="1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7398E9-40F3-85C9-643F-9C87EF682469}"/>
              </a:ext>
            </a:extLst>
          </p:cNvPr>
          <p:cNvSpPr/>
          <p:nvPr/>
        </p:nvSpPr>
        <p:spPr>
          <a:xfrm>
            <a:off x="3502152" y="1460321"/>
            <a:ext cx="2670048" cy="137160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D3B21B-D439-B019-7583-186A141FD1EE}"/>
              </a:ext>
            </a:extLst>
          </p:cNvPr>
          <p:cNvSpPr/>
          <p:nvPr/>
        </p:nvSpPr>
        <p:spPr>
          <a:xfrm>
            <a:off x="3593592" y="1643201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€ 40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9F4E1D-DE60-F1AB-7204-0BEAF696749B}"/>
              </a:ext>
            </a:extLst>
          </p:cNvPr>
          <p:cNvSpPr/>
          <p:nvPr/>
        </p:nvSpPr>
        <p:spPr>
          <a:xfrm>
            <a:off x="3593592" y="2283281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Uurtarief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personeel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C72EA1-B1E2-68B2-C377-85283B7B3C7F}"/>
              </a:ext>
            </a:extLst>
          </p:cNvPr>
          <p:cNvSpPr/>
          <p:nvPr/>
        </p:nvSpPr>
        <p:spPr>
          <a:xfrm>
            <a:off x="594360" y="3014801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558EAB3-D256-3358-1F98-52D7AC72FE39}"/>
              </a:ext>
            </a:extLst>
          </p:cNvPr>
          <p:cNvSpPr/>
          <p:nvPr/>
        </p:nvSpPr>
        <p:spPr>
          <a:xfrm>
            <a:off x="773206" y="3197681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min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DD6FE7-A73B-DFE1-3669-F75202BAC7A7}"/>
              </a:ext>
            </a:extLst>
          </p:cNvPr>
          <p:cNvSpPr/>
          <p:nvPr/>
        </p:nvSpPr>
        <p:spPr>
          <a:xfrm>
            <a:off x="773206" y="3532849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Vacaturetekst</a:t>
            </a:r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schrijven</a:t>
            </a:r>
            <a:endParaRPr lang="en-US" sz="1050" dirty="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D1D56C35-CB18-9CC2-AC7B-EA7F91F50AF5}"/>
              </a:ext>
            </a:extLst>
          </p:cNvPr>
          <p:cNvSpPr/>
          <p:nvPr/>
        </p:nvSpPr>
        <p:spPr>
          <a:xfrm>
            <a:off x="4406332" y="3014801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2E25758D-4D1D-A4CA-1513-102BD2E8FA26}"/>
              </a:ext>
            </a:extLst>
          </p:cNvPr>
          <p:cNvSpPr/>
          <p:nvPr/>
        </p:nvSpPr>
        <p:spPr>
          <a:xfrm>
            <a:off x="4585178" y="3197681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min</a:t>
            </a:r>
            <a:endParaRPr lang="en-US" sz="2000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FB057211-51AE-1528-9438-EEC063A451BE}"/>
              </a:ext>
            </a:extLst>
          </p:cNvPr>
          <p:cNvSpPr/>
          <p:nvPr/>
        </p:nvSpPr>
        <p:spPr>
          <a:xfrm>
            <a:off x="4585178" y="3532849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Metadata</a:t>
            </a:r>
            <a:endParaRPr lang="en-US" sz="1050" dirty="0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5FC238B9-ED90-1BA0-C8EB-38823468CE8C}"/>
              </a:ext>
            </a:extLst>
          </p:cNvPr>
          <p:cNvSpPr/>
          <p:nvPr/>
        </p:nvSpPr>
        <p:spPr>
          <a:xfrm>
            <a:off x="2500346" y="3020916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FFBD2F54-4C58-AE99-D18A-EC63E1857D83}"/>
              </a:ext>
            </a:extLst>
          </p:cNvPr>
          <p:cNvSpPr/>
          <p:nvPr/>
        </p:nvSpPr>
        <p:spPr>
          <a:xfrm>
            <a:off x="2679192" y="3203796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min</a:t>
            </a:r>
            <a:endParaRPr lang="en-US" sz="20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DD3EF32D-BBEE-1974-FC41-2B0013199940}"/>
              </a:ext>
            </a:extLst>
          </p:cNvPr>
          <p:cNvSpPr/>
          <p:nvPr/>
        </p:nvSpPr>
        <p:spPr>
          <a:xfrm>
            <a:off x="2679192" y="3538964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Visual </a:t>
            </a:r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maken</a:t>
            </a:r>
            <a:endParaRPr lang="en-US" sz="105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03605D6B-B08F-F512-8D0F-10D9161A958B}"/>
              </a:ext>
            </a:extLst>
          </p:cNvPr>
          <p:cNvSpPr/>
          <p:nvPr/>
        </p:nvSpPr>
        <p:spPr>
          <a:xfrm>
            <a:off x="594360" y="4000919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73140657-C939-4383-0651-8F16D0CFBA8D}"/>
              </a:ext>
            </a:extLst>
          </p:cNvPr>
          <p:cNvSpPr/>
          <p:nvPr/>
        </p:nvSpPr>
        <p:spPr>
          <a:xfrm>
            <a:off x="773206" y="4183799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</a:t>
            </a:r>
            <a:endParaRPr lang="en-US" sz="2000" dirty="0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C66CD956-9E2A-5F96-D0AE-56A62FCA36B2}"/>
              </a:ext>
            </a:extLst>
          </p:cNvPr>
          <p:cNvSpPr/>
          <p:nvPr/>
        </p:nvSpPr>
        <p:spPr>
          <a:xfrm>
            <a:off x="633088" y="4518967"/>
            <a:ext cx="1688412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Tigris/ Salesforce </a:t>
            </a:r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invoeren</a:t>
            </a:r>
            <a:endParaRPr lang="en-US" sz="1050" dirty="0"/>
          </a:p>
        </p:txBody>
      </p:sp>
      <p:sp>
        <p:nvSpPr>
          <p:cNvPr id="63" name="Shape 8">
            <a:extLst>
              <a:ext uri="{FF2B5EF4-FFF2-40B4-BE49-F238E27FC236}">
                <a16:creationId xmlns:a16="http://schemas.microsoft.com/office/drawing/2014/main" id="{29D341F6-87CB-A7ED-ACD5-F769E7FF2EA3}"/>
              </a:ext>
            </a:extLst>
          </p:cNvPr>
          <p:cNvSpPr/>
          <p:nvPr/>
        </p:nvSpPr>
        <p:spPr>
          <a:xfrm>
            <a:off x="4406332" y="4000919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3E33B2D1-B659-8665-DD46-CC6257498418}"/>
              </a:ext>
            </a:extLst>
          </p:cNvPr>
          <p:cNvSpPr/>
          <p:nvPr/>
        </p:nvSpPr>
        <p:spPr>
          <a:xfrm>
            <a:off x="4585178" y="4183799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</a:t>
            </a:r>
            <a:endParaRPr lang="en-US" sz="200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3EBBB6E5-53CE-A187-76D8-1823716BEA97}"/>
              </a:ext>
            </a:extLst>
          </p:cNvPr>
          <p:cNvSpPr/>
          <p:nvPr/>
        </p:nvSpPr>
        <p:spPr>
          <a:xfrm>
            <a:off x="4585178" y="4518967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Coördinatie</a:t>
            </a:r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handoffs</a:t>
            </a:r>
            <a:endParaRPr lang="en-US" sz="1050" dirty="0"/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186EECB7-2C36-B8F0-8A37-C66CC745CE45}"/>
              </a:ext>
            </a:extLst>
          </p:cNvPr>
          <p:cNvSpPr/>
          <p:nvPr/>
        </p:nvSpPr>
        <p:spPr>
          <a:xfrm>
            <a:off x="2500346" y="4007034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339ADEDD-9C1E-8211-753F-D617785E53E0}"/>
              </a:ext>
            </a:extLst>
          </p:cNvPr>
          <p:cNvSpPr/>
          <p:nvPr/>
        </p:nvSpPr>
        <p:spPr>
          <a:xfrm>
            <a:off x="2679192" y="4189914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min</a:t>
            </a:r>
            <a:endParaRPr lang="en-US" sz="2000" dirty="0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80A5DB35-0260-F4DB-A977-E05A5DB15AB4}"/>
              </a:ext>
            </a:extLst>
          </p:cNvPr>
          <p:cNvSpPr/>
          <p:nvPr/>
        </p:nvSpPr>
        <p:spPr>
          <a:xfrm>
            <a:off x="2679192" y="4525082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</a:t>
            </a:r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opzetten</a:t>
            </a:r>
            <a:endParaRPr lang="en-US" sz="1050" dirty="0"/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7FFF14B7-401E-1A27-E594-8D0AD60F8922}"/>
              </a:ext>
            </a:extLst>
          </p:cNvPr>
          <p:cNvSpPr/>
          <p:nvPr/>
        </p:nvSpPr>
        <p:spPr>
          <a:xfrm>
            <a:off x="6493495" y="3014801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6E713703-1136-DF37-28D8-806EDD664BEC}"/>
              </a:ext>
            </a:extLst>
          </p:cNvPr>
          <p:cNvSpPr/>
          <p:nvPr/>
        </p:nvSpPr>
        <p:spPr>
          <a:xfrm>
            <a:off x="6672341" y="3197681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€ 7</a:t>
            </a:r>
            <a:endParaRPr lang="en-US" sz="2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00970A96-868B-6B9E-62C3-08ACBE58B79B}"/>
              </a:ext>
            </a:extLst>
          </p:cNvPr>
          <p:cNvSpPr/>
          <p:nvPr/>
        </p:nvSpPr>
        <p:spPr>
          <a:xfrm>
            <a:off x="6672341" y="3590326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starter</a:t>
            </a:r>
            <a:endParaRPr lang="en-US" sz="1050" dirty="0"/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78418965-138E-7D59-BD43-637F5D1FCB9F}"/>
              </a:ext>
            </a:extLst>
          </p:cNvPr>
          <p:cNvSpPr/>
          <p:nvPr/>
        </p:nvSpPr>
        <p:spPr>
          <a:xfrm>
            <a:off x="594360" y="4983451"/>
            <a:ext cx="5577840" cy="710901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36D89312-2D3F-4E68-42A1-D269AAF8BB7B}"/>
              </a:ext>
            </a:extLst>
          </p:cNvPr>
          <p:cNvSpPr/>
          <p:nvPr/>
        </p:nvSpPr>
        <p:spPr>
          <a:xfrm>
            <a:off x="797558" y="5240713"/>
            <a:ext cx="5195796" cy="19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170 min &gt;&gt; € 113,33 per </a:t>
            </a:r>
            <a:r>
              <a:rPr lang="en-US" sz="20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vacature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2" name="Shape 2">
            <a:extLst>
              <a:ext uri="{FF2B5EF4-FFF2-40B4-BE49-F238E27FC236}">
                <a16:creationId xmlns:a16="http://schemas.microsoft.com/office/drawing/2014/main" id="{2D115BC2-60D1-31BB-E9EC-0A8C6C16BDD3}"/>
              </a:ext>
            </a:extLst>
          </p:cNvPr>
          <p:cNvSpPr/>
          <p:nvPr/>
        </p:nvSpPr>
        <p:spPr>
          <a:xfrm>
            <a:off x="6493495" y="1460321"/>
            <a:ext cx="2670048" cy="13716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3" name="Text 3">
            <a:extLst>
              <a:ext uri="{FF2B5EF4-FFF2-40B4-BE49-F238E27FC236}">
                <a16:creationId xmlns:a16="http://schemas.microsoft.com/office/drawing/2014/main" id="{5DA3ECA0-12DF-F757-8D6A-93C13DC42789}"/>
              </a:ext>
            </a:extLst>
          </p:cNvPr>
          <p:cNvSpPr/>
          <p:nvPr/>
        </p:nvSpPr>
        <p:spPr>
          <a:xfrm>
            <a:off x="6584935" y="1643201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</a:t>
            </a:r>
            <a:endParaRPr lang="en-US" sz="3000" dirty="0"/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DF91FBC1-98AB-1A83-84CD-CD3ED15CEA30}"/>
              </a:ext>
            </a:extLst>
          </p:cNvPr>
          <p:cNvSpPr/>
          <p:nvPr/>
        </p:nvSpPr>
        <p:spPr>
          <a:xfrm>
            <a:off x="6584935" y="2283281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Reviewtijd</a:t>
            </a:r>
            <a:r>
              <a:rPr lang="en-US" sz="1300" dirty="0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auto (min)</a:t>
            </a:r>
            <a:endParaRPr lang="en-US" sz="1300" dirty="0"/>
          </a:p>
        </p:txBody>
      </p:sp>
      <p:sp>
        <p:nvSpPr>
          <p:cNvPr id="85" name="Shape 5">
            <a:extLst>
              <a:ext uri="{FF2B5EF4-FFF2-40B4-BE49-F238E27FC236}">
                <a16:creationId xmlns:a16="http://schemas.microsoft.com/office/drawing/2014/main" id="{B2912C81-3555-21D6-DB40-AE0299665B83}"/>
              </a:ext>
            </a:extLst>
          </p:cNvPr>
          <p:cNvSpPr/>
          <p:nvPr/>
        </p:nvSpPr>
        <p:spPr>
          <a:xfrm>
            <a:off x="9401287" y="1460321"/>
            <a:ext cx="2670048" cy="13716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E5A6166B-9C1E-3BA8-BEA5-ADE57B48554B}"/>
              </a:ext>
            </a:extLst>
          </p:cNvPr>
          <p:cNvSpPr/>
          <p:nvPr/>
        </p:nvSpPr>
        <p:spPr>
          <a:xfrm>
            <a:off x="9492727" y="1643201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€ 50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AB75D9BD-28B5-7307-00EF-22BB504BC384}"/>
              </a:ext>
            </a:extLst>
          </p:cNvPr>
          <p:cNvSpPr/>
          <p:nvPr/>
        </p:nvSpPr>
        <p:spPr>
          <a:xfrm>
            <a:off x="9492727" y="2283281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Maandelijkse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8" name="Shape 8">
            <a:extLst>
              <a:ext uri="{FF2B5EF4-FFF2-40B4-BE49-F238E27FC236}">
                <a16:creationId xmlns:a16="http://schemas.microsoft.com/office/drawing/2014/main" id="{46CFD803-E2EA-E242-F0DA-0722DF9583F9}"/>
              </a:ext>
            </a:extLst>
          </p:cNvPr>
          <p:cNvSpPr/>
          <p:nvPr/>
        </p:nvSpPr>
        <p:spPr>
          <a:xfrm>
            <a:off x="8394013" y="3014801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89" name="Text 9">
            <a:extLst>
              <a:ext uri="{FF2B5EF4-FFF2-40B4-BE49-F238E27FC236}">
                <a16:creationId xmlns:a16="http://schemas.microsoft.com/office/drawing/2014/main" id="{A9EFA05A-C2EC-0C86-F425-6578EEC095B1}"/>
              </a:ext>
            </a:extLst>
          </p:cNvPr>
          <p:cNvSpPr/>
          <p:nvPr/>
        </p:nvSpPr>
        <p:spPr>
          <a:xfrm>
            <a:off x="8572859" y="3197681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€ 5</a:t>
            </a:r>
            <a:endParaRPr lang="en-US" sz="2000" dirty="0"/>
          </a:p>
        </p:txBody>
      </p:sp>
      <p:sp>
        <p:nvSpPr>
          <p:cNvPr id="90" name="Text 10">
            <a:extLst>
              <a:ext uri="{FF2B5EF4-FFF2-40B4-BE49-F238E27FC236}">
                <a16:creationId xmlns:a16="http://schemas.microsoft.com/office/drawing/2014/main" id="{5B228192-A15F-DA38-7F49-D129C8222801}"/>
              </a:ext>
            </a:extLst>
          </p:cNvPr>
          <p:cNvSpPr/>
          <p:nvPr/>
        </p:nvSpPr>
        <p:spPr>
          <a:xfrm>
            <a:off x="8572859" y="3590326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San Server</a:t>
            </a:r>
            <a:endParaRPr lang="en-US" sz="1050" dirty="0"/>
          </a:p>
        </p:txBody>
      </p:sp>
      <p:sp>
        <p:nvSpPr>
          <p:cNvPr id="91" name="Shape 8">
            <a:extLst>
              <a:ext uri="{FF2B5EF4-FFF2-40B4-BE49-F238E27FC236}">
                <a16:creationId xmlns:a16="http://schemas.microsoft.com/office/drawing/2014/main" id="{07B8461A-1357-4B53-C705-20A25BBFB984}"/>
              </a:ext>
            </a:extLst>
          </p:cNvPr>
          <p:cNvSpPr/>
          <p:nvPr/>
        </p:nvSpPr>
        <p:spPr>
          <a:xfrm>
            <a:off x="10303495" y="3014801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74725654-6A55-8927-272B-18FE5EEF70EC}"/>
              </a:ext>
            </a:extLst>
          </p:cNvPr>
          <p:cNvSpPr/>
          <p:nvPr/>
        </p:nvSpPr>
        <p:spPr>
          <a:xfrm>
            <a:off x="10482341" y="3197681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€ 25</a:t>
            </a:r>
            <a:endParaRPr lang="en-US" sz="2000" dirty="0"/>
          </a:p>
        </p:txBody>
      </p:sp>
      <p:sp>
        <p:nvSpPr>
          <p:cNvPr id="93" name="Text 10">
            <a:extLst>
              <a:ext uri="{FF2B5EF4-FFF2-40B4-BE49-F238E27FC236}">
                <a16:creationId xmlns:a16="http://schemas.microsoft.com/office/drawing/2014/main" id="{03064109-5324-8A06-40F8-5C33CF9E9B0F}"/>
              </a:ext>
            </a:extLst>
          </p:cNvPr>
          <p:cNvSpPr/>
          <p:nvPr/>
        </p:nvSpPr>
        <p:spPr>
          <a:xfrm>
            <a:off x="10482341" y="3590326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50" dirty="0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DFC26EA4-9CF2-7740-B473-0F48FD99285E}"/>
              </a:ext>
            </a:extLst>
          </p:cNvPr>
          <p:cNvSpPr/>
          <p:nvPr/>
        </p:nvSpPr>
        <p:spPr>
          <a:xfrm>
            <a:off x="6493495" y="4009884"/>
            <a:ext cx="1765868" cy="843739"/>
          </a:xfrm>
          <a:prstGeom prst="rect">
            <a:avLst/>
          </a:prstGeom>
          <a:solidFill>
            <a:srgbClr val="F4F3F1"/>
          </a:solidFill>
          <a:ln/>
        </p:spPr>
        <p:txBody>
          <a:bodyPr/>
          <a:lstStyle/>
          <a:p>
            <a:pPr algn="ctr"/>
            <a:endParaRPr lang="nl-NL"/>
          </a:p>
        </p:txBody>
      </p:sp>
      <p:sp>
        <p:nvSpPr>
          <p:cNvPr id="95" name="Text 9">
            <a:extLst>
              <a:ext uri="{FF2B5EF4-FFF2-40B4-BE49-F238E27FC236}">
                <a16:creationId xmlns:a16="http://schemas.microsoft.com/office/drawing/2014/main" id="{83760AF0-D442-66E9-31B3-C6082E657C9F}"/>
              </a:ext>
            </a:extLst>
          </p:cNvPr>
          <p:cNvSpPr/>
          <p:nvPr/>
        </p:nvSpPr>
        <p:spPr>
          <a:xfrm>
            <a:off x="6672341" y="4192764"/>
            <a:ext cx="1408176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€ 8</a:t>
            </a:r>
            <a:endParaRPr lang="en-US" sz="2000" dirty="0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68B95574-E156-7527-7B3B-0681055255BC}"/>
              </a:ext>
            </a:extLst>
          </p:cNvPr>
          <p:cNvSpPr/>
          <p:nvPr/>
        </p:nvSpPr>
        <p:spPr>
          <a:xfrm>
            <a:off x="6672341" y="4585409"/>
            <a:ext cx="1408176" cy="23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050" dirty="0"/>
          </a:p>
        </p:txBody>
      </p:sp>
      <p:sp>
        <p:nvSpPr>
          <p:cNvPr id="97" name="Shape 5">
            <a:extLst>
              <a:ext uri="{FF2B5EF4-FFF2-40B4-BE49-F238E27FC236}">
                <a16:creationId xmlns:a16="http://schemas.microsoft.com/office/drawing/2014/main" id="{7648C818-22E5-77D1-EB6F-758E9FEFF2D7}"/>
              </a:ext>
            </a:extLst>
          </p:cNvPr>
          <p:cNvSpPr/>
          <p:nvPr/>
        </p:nvSpPr>
        <p:spPr>
          <a:xfrm>
            <a:off x="6493136" y="4983451"/>
            <a:ext cx="5577840" cy="710901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8" name="Text 6">
            <a:extLst>
              <a:ext uri="{FF2B5EF4-FFF2-40B4-BE49-F238E27FC236}">
                <a16:creationId xmlns:a16="http://schemas.microsoft.com/office/drawing/2014/main" id="{6D58F541-A73E-1E35-45EB-528CB65C03A1}"/>
              </a:ext>
            </a:extLst>
          </p:cNvPr>
          <p:cNvSpPr/>
          <p:nvPr/>
        </p:nvSpPr>
        <p:spPr>
          <a:xfrm>
            <a:off x="6696334" y="5240713"/>
            <a:ext cx="5195796" cy="19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€ 50 per </a:t>
            </a:r>
            <a:r>
              <a:rPr lang="en-US" sz="20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maand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9" name="Shape 5">
            <a:extLst>
              <a:ext uri="{FF2B5EF4-FFF2-40B4-BE49-F238E27FC236}">
                <a16:creationId xmlns:a16="http://schemas.microsoft.com/office/drawing/2014/main" id="{78F276B9-E538-58EB-BA73-502F97E67DB7}"/>
              </a:ext>
            </a:extLst>
          </p:cNvPr>
          <p:cNvSpPr/>
          <p:nvPr/>
        </p:nvSpPr>
        <p:spPr>
          <a:xfrm>
            <a:off x="594360" y="5779864"/>
            <a:ext cx="5577840" cy="710901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0" name="Text 6">
            <a:extLst>
              <a:ext uri="{FF2B5EF4-FFF2-40B4-BE49-F238E27FC236}">
                <a16:creationId xmlns:a16="http://schemas.microsoft.com/office/drawing/2014/main" id="{D4CBA871-E8BD-C36E-9362-9ADC4A03B1C5}"/>
              </a:ext>
            </a:extLst>
          </p:cNvPr>
          <p:cNvSpPr/>
          <p:nvPr/>
        </p:nvSpPr>
        <p:spPr>
          <a:xfrm>
            <a:off x="797558" y="6037126"/>
            <a:ext cx="5195796" cy="19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€ 113,33 x </a:t>
            </a:r>
            <a:r>
              <a:rPr lang="en-US" sz="20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aantal</a:t>
            </a:r>
            <a:r>
              <a:rPr lang="en-US" sz="2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v/p = € 1.699,95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4" name="Shape 5">
            <a:extLst>
              <a:ext uri="{FF2B5EF4-FFF2-40B4-BE49-F238E27FC236}">
                <a16:creationId xmlns:a16="http://schemas.microsoft.com/office/drawing/2014/main" id="{38CD1E83-DEBB-8CA8-49D2-D5623EB47EC0}"/>
              </a:ext>
            </a:extLst>
          </p:cNvPr>
          <p:cNvSpPr/>
          <p:nvPr/>
        </p:nvSpPr>
        <p:spPr>
          <a:xfrm>
            <a:off x="6493135" y="5779864"/>
            <a:ext cx="2721056" cy="710901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5" name="Text 6">
            <a:extLst>
              <a:ext uri="{FF2B5EF4-FFF2-40B4-BE49-F238E27FC236}">
                <a16:creationId xmlns:a16="http://schemas.microsoft.com/office/drawing/2014/main" id="{810F1F90-5770-157B-BA5E-696A30EF33C5}"/>
              </a:ext>
            </a:extLst>
          </p:cNvPr>
          <p:cNvSpPr/>
          <p:nvPr/>
        </p:nvSpPr>
        <p:spPr>
          <a:xfrm>
            <a:off x="6890256" y="6037126"/>
            <a:ext cx="1876525" cy="203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Besparen</a:t>
            </a:r>
            <a:r>
              <a:rPr lang="en-US" sz="1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per </a:t>
            </a:r>
            <a:r>
              <a:rPr lang="en-US" sz="14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jaar</a:t>
            </a:r>
            <a:r>
              <a:rPr lang="en-US" sz="1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€ 19.723,20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6" name="Shape 5">
            <a:extLst>
              <a:ext uri="{FF2B5EF4-FFF2-40B4-BE49-F238E27FC236}">
                <a16:creationId xmlns:a16="http://schemas.microsoft.com/office/drawing/2014/main" id="{11940729-012E-5C09-6C66-B2524FD7E881}"/>
              </a:ext>
            </a:extLst>
          </p:cNvPr>
          <p:cNvSpPr/>
          <p:nvPr/>
        </p:nvSpPr>
        <p:spPr>
          <a:xfrm>
            <a:off x="9357873" y="5779864"/>
            <a:ext cx="2721056" cy="710901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8" name="Text 6">
            <a:extLst>
              <a:ext uri="{FF2B5EF4-FFF2-40B4-BE49-F238E27FC236}">
                <a16:creationId xmlns:a16="http://schemas.microsoft.com/office/drawing/2014/main" id="{DF8CBD15-6C6B-33D0-80BC-AD531B56BFA6}"/>
              </a:ext>
            </a:extLst>
          </p:cNvPr>
          <p:cNvSpPr/>
          <p:nvPr/>
        </p:nvSpPr>
        <p:spPr>
          <a:xfrm>
            <a:off x="9825185" y="6037126"/>
            <a:ext cx="1876525" cy="203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Besparen</a:t>
            </a:r>
            <a:r>
              <a:rPr lang="en-US" sz="1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per </a:t>
            </a:r>
            <a:r>
              <a:rPr lang="en-US" sz="1400" dirty="0" err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jaar</a:t>
            </a:r>
            <a:r>
              <a:rPr lang="en-US" sz="1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 Black" pitchFamily="34" charset="0"/>
                <a:cs typeface="Arial Black" pitchFamily="34" charset="-120"/>
              </a:rPr>
              <a:t>1.920 </a:t>
            </a:r>
            <a:r>
              <a:rPr lang="en-US" sz="1400" dirty="0" err="1">
                <a:solidFill>
                  <a:schemeClr val="bg1"/>
                </a:solidFill>
                <a:latin typeface="Arial Black" pitchFamily="34" charset="0"/>
                <a:cs typeface="Arial Black" pitchFamily="34" charset="-120"/>
              </a:rPr>
              <a:t>minuten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95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3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VOORBIJ DE ARBEIDSBESPARING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échte upside zit verder dan uren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886968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Snellere time-to-fill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6243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Vacature dezelfde dag live → eerder een plaatsing → eerder marge.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556248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Betere vindbaarheid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6248" y="26243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SEO/GEO → meer organisch verkeer, minder afhankelijk van budget.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886968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Lead-tracking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315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Meta-lead herleidbaar naar de vacature via App 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556248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Schaalbaar zonder mensen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6248" y="4315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Volumepieken opvangen; recruiters richten zich op kandidaten.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440680"/>
            <a:ext cx="11000232" cy="777240"/>
          </a:xfrm>
          <a:prstGeom prst="rect">
            <a:avLst/>
          </a:prstGeom>
          <a:solidFill>
            <a:srgbClr val="FF7D2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868680" y="544068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extra plaatsing per maand door snellere doorlooptijd overtreft de hele arbeidsbesparing 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7392</TotalTime>
  <Words>825</Words>
  <Application>Microsoft Macintosh PowerPoint</Application>
  <PresentationFormat>Breedbeeld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VIF-automatisering — businesscase</dc:title>
  <dc:subject>PptxGenJS Presentation</dc:subject>
  <dc:creator>TecqGroep</dc:creator>
  <cp:lastModifiedBy>Yasar Erol | TecqGroep</cp:lastModifiedBy>
  <cp:revision>4</cp:revision>
  <dcterms:created xsi:type="dcterms:W3CDTF">2026-06-11T10:15:34Z</dcterms:created>
  <dcterms:modified xsi:type="dcterms:W3CDTF">2026-06-16T14:57:05Z</dcterms:modified>
</cp:coreProperties>
</file>